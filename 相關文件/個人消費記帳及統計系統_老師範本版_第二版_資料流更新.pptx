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7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4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1918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約15秒：大家好，我的專題是個人消費記帳及統計系統，使用 Flask 與 MySQL 開發，並加入 Dashboard 與柏拉圖分析。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約10秒：依老師範本快速帶過大綱。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約30秒：專題重點不是只有記帳，而是把資料轉成可以判讀的資訊。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約25秒：消費發生後輸入、查詢，最後轉成統計圖表。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約25秒：Input 是日期與金額，Output 是查詢結果和統計圖表。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約15秒：本專題為個人完成。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約25秒：流程圖快速講。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約30秒：表單POST到Flask，再用SQL存入MySQL；查詢和Dashboard則讀回資料。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約20秒：目前主要角色就是使用者，不硬湊不存在的管理員。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約15秒：首頁提供新增、查詢與統計Dashboard三個入口。可在此切換瀏覽器做Demo。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這頁快速帶過，因為已做現場Demo。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約60秒：柱狀圖是金額、折線是累積百分比、虛線是80%。房貸最高；前三項約75.5%，加入加油費達80%。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約20秒：列為後續改善，不在報告前再改核心系統。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約30秒：用自己的學習收穫收尾。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約10秒：快速帶過，最後說以上是我的專題報告，謝謝大家。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F6FCB"/>
                </a:solidFill>
                <a:latin typeface="Microsoft JhengHei"/>
              </a:rPr>
              <a:t>職前訓練專題期末報告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C3D5B"/>
                </a:solidFill>
                <a:latin typeface="Microsoft JhengHei"/>
              </a:rPr>
              <a:t>個人消費記帳及統計系統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057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87684"/>
                </a:solidFill>
                <a:latin typeface="Microsoft JhengHei"/>
              </a:rPr>
              <a:t>Personal Expense Management &amp; Statistical Analysis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2743200"/>
            <a:ext cx="83210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886c00f8-399e-40f0-9873-28182c2157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9921" y="2880360"/>
            <a:ext cx="5561677" cy="17830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D3945"/>
                </a:solidFill>
                <a:latin typeface="Microsoft JhengHei"/>
              </a:rPr>
              <a:t>報告人：施志雄　｜　2026.09.10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6FCB"/>
                </a:solidFill>
                <a:latin typeface="Microsoft JhengHei"/>
              </a:rPr>
              <a:t>Python Flask × MySQL × HTML/CSS ×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CB"/>
                </a:solidFill>
                <a:latin typeface="Microsoft JhengHei"/>
              </a:rPr>
              <a:t>大綱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3D5B"/>
                </a:solidFill>
                <a:latin typeface="Microsoft JhengHei"/>
              </a:rPr>
              <a:t>報告內容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87684"/>
                </a:solidFill>
                <a:latin typeface="Microsoft JhengHe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1325880"/>
            <a:ext cx="93268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91640" y="14630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F6FCB"/>
                </a:solidFill>
                <a:latin typeface="Microsoft JhengHei"/>
              </a:rPr>
              <a:t>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453895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3D5B"/>
                </a:solidFill>
                <a:latin typeface="Microsoft JhengHei"/>
              </a:rPr>
              <a:t>簡介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194560"/>
            <a:ext cx="93268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91640" y="23317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F6FCB"/>
                </a:solidFill>
                <a:latin typeface="Microsoft JhengHei"/>
              </a:rPr>
              <a:t>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14600" y="232257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3D5B"/>
                </a:solidFill>
                <a:latin typeface="Microsoft JhengHei"/>
              </a:rPr>
              <a:t>設計流程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71600" y="3063239"/>
            <a:ext cx="93268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691640" y="320039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F6FCB"/>
                </a:solidFill>
                <a:latin typeface="Microsoft JhengHei"/>
              </a:rPr>
              <a:t>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19125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3D5B"/>
                </a:solidFill>
                <a:latin typeface="Microsoft JhengHei"/>
              </a:rPr>
              <a:t>實作成果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3931920"/>
            <a:ext cx="93268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91640" y="406908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F6FCB"/>
                </a:solidFill>
                <a:latin typeface="Microsoft JhengHei"/>
              </a:rPr>
              <a:t>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4600" y="4059935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3D5B"/>
                </a:solidFill>
                <a:latin typeface="Microsoft JhengHei"/>
              </a:rPr>
              <a:t>建議與感想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4800600"/>
            <a:ext cx="932688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691640" y="49377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514600" y="4928616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3D5B"/>
                </a:solidFill>
                <a:latin typeface="Microsoft JhengHei"/>
              </a:rPr>
              <a:t>參考資料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CB"/>
                </a:solidFill>
                <a:latin typeface="Microsoft JhengHei"/>
              </a:rPr>
              <a:t>一、簡介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3D5B"/>
                </a:solidFill>
                <a:latin typeface="Microsoft JhengHei"/>
              </a:rPr>
              <a:t>1. 主題說明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87684"/>
                </a:solidFill>
                <a:latin typeface="Microsoft JhengHe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80160"/>
            <a:ext cx="52120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080760" y="1280160"/>
            <a:ext cx="544068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459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1F6FCB"/>
                </a:solidFill>
                <a:latin typeface="Microsoft JhengHei"/>
              </a:rPr>
              <a:t>簡介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94560"/>
            <a:ext cx="4526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D3945"/>
                </a:solidFill>
                <a:latin typeface="Microsoft JhengHei"/>
              </a:rPr>
              <a:t>建立 Web 化的個人消費記帳系統，將日常支出集中儲存於 MySQL，並透過 Dashboard 進行視覺化統計分析。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6459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>
                <a:solidFill>
                  <a:srgbClr val="2E7D32"/>
                </a:solidFill>
                <a:latin typeface="Microsoft JhengHei"/>
              </a:rPr>
              <a:t>想法／緣起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D3945"/>
                </a:solidFill>
                <a:latin typeface="Microsoft JhengHei"/>
              </a:rPr>
              <a:t>單純記帳只能知道「花了多少」，希望進一步回答：
• 錢主要花在哪裡？
• 每月支出如何變化？
• 哪些項目應優先管理？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A38A3"/>
                </a:solidFill>
                <a:latin typeface="Microsoft JhengHei"/>
              </a:rPr>
              <a:t>記錄 → 統計 → 分析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CB"/>
                </a:solidFill>
                <a:latin typeface="Microsoft JhengHei"/>
              </a:rPr>
              <a:t>一、簡介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3D5B"/>
                </a:solidFill>
                <a:latin typeface="Microsoft JhengHei"/>
              </a:rPr>
              <a:t>2. 情境說明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87684"/>
                </a:solidFill>
                <a:latin typeface="Microsoft JhengHe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46888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20574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1F6FCB"/>
                </a:solidFill>
                <a:latin typeface="Microsoft JhengHe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C3D5B"/>
                </a:solidFill>
                <a:latin typeface="Microsoft JhengHei"/>
              </a:rPr>
              <a:t>日常消費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87684"/>
                </a:solidFill>
                <a:latin typeface="Microsoft JhengHei"/>
              </a:rPr>
              <a:t>交通、用餐、醫療、加油等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90672" y="28529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87684"/>
                </a:solidFill>
                <a:latin typeface="Microsoft JhengHe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828800"/>
            <a:ext cx="246888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24528" y="20574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2E7D32"/>
                </a:solidFill>
                <a:latin typeface="Microsoft Jheng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C3D5B"/>
                </a:solidFill>
                <a:latin typeface="Microsoft JhengHei"/>
              </a:rPr>
              <a:t>記錄資料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7" y="3337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87684"/>
                </a:solidFill>
                <a:latin typeface="Microsoft JhengHei"/>
              </a:rPr>
              <a:t>透過網頁輸入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8529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87684"/>
                </a:solidFill>
                <a:latin typeface="Microsoft Jheng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0216" y="1828800"/>
            <a:ext cx="246888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77456" y="20574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6A38A3"/>
                </a:solidFill>
                <a:latin typeface="Microsoft JhengHe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C3D5B"/>
                </a:solidFill>
                <a:latin typeface="Microsoft JhengHei"/>
              </a:rPr>
              <a:t>查詢資料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8816" y="3337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87684"/>
                </a:solidFill>
                <a:latin typeface="Microsoft JhengHei"/>
              </a:rPr>
              <a:t>依日期或項目搜尋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96528" y="285292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87684"/>
                </a:solidFill>
                <a:latin typeface="Microsoft Jheng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53144" y="1828800"/>
            <a:ext cx="246888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930384" y="2057400"/>
            <a:ext cx="914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EF842A"/>
                </a:solidFill>
                <a:latin typeface="Microsoft JhengHe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2743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C3D5B"/>
                </a:solidFill>
                <a:latin typeface="Microsoft JhengHei"/>
              </a:rPr>
              <a:t>統計分析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81744" y="33375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87684"/>
                </a:solidFill>
                <a:latin typeface="Microsoft JhengHei"/>
              </a:rPr>
              <a:t>Dashboard / 柏拉圖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166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1C3D5B"/>
                </a:solidFill>
                <a:latin typeface="Microsoft JhengHei"/>
              </a:rPr>
              <a:t>應用情境：個人／家庭日常支出管理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CB"/>
                </a:solidFill>
                <a:latin typeface="Microsoft JhengHei"/>
              </a:rPr>
              <a:t>一、簡介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3D5B"/>
                </a:solidFill>
                <a:latin typeface="Microsoft JhengHei"/>
              </a:rPr>
              <a:t>3. 流程說明：Input →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87684"/>
                </a:solidFill>
                <a:latin typeface="Microsoft JhengHe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240"/>
            <a:ext cx="25146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1F6F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22860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6FCB"/>
                </a:solidFill>
                <a:latin typeface="Microsoft JhengHei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C3D5B"/>
                </a:solidFill>
                <a:latin typeface="Microsoft JhengHei"/>
              </a:rPr>
              <a:t>日期＋各項消費金額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7432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87684"/>
                </a:solidFill>
                <a:latin typeface="Microsoft Jheng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10712" y="1920240"/>
            <a:ext cx="25146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93592" y="22860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7D32"/>
                </a:solidFill>
                <a:latin typeface="Microsoft JhengHei"/>
              </a:rP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29718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C3D5B"/>
                </a:solidFill>
                <a:latin typeface="Microsoft JhengHei"/>
              </a:rPr>
              <a:t>Flask 接收與處理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25312" y="27432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87684"/>
                </a:solidFill>
                <a:latin typeface="Microsoft Jheng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18504" y="1920240"/>
            <a:ext cx="25146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6A3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01384" y="22860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A38A3"/>
                </a:solidFill>
                <a:latin typeface="Microsoft JhengHei"/>
              </a:rPr>
              <a:t>DATABASE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47104" y="29718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C3D5B"/>
                </a:solidFill>
                <a:latin typeface="Microsoft JhengHei"/>
              </a:rPr>
              <a:t>MySQL expense_data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33104" y="2743200"/>
            <a:ext cx="411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687684"/>
                </a:solidFill>
                <a:latin typeface="Microsoft Jheng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26296" y="1920240"/>
            <a:ext cx="251460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F8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409176" y="2286000"/>
            <a:ext cx="2148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F842A"/>
                </a:solidFill>
                <a:latin typeface="Microsoft JhengHei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4896" y="2971800"/>
            <a:ext cx="2057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C3D5B"/>
                </a:solidFill>
                <a:latin typeface="Microsoft JhengHei"/>
              </a:rPr>
              <a:t>查詢結果＋Dashboard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8348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2D3945"/>
                </a:solidFill>
                <a:latin typeface="Microsoft JhengHei"/>
              </a:rPr>
              <a:t>輸入資料後即可再次查詢，Dashboard 依資料庫內容重新計算統計結果。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CB"/>
                </a:solidFill>
                <a:latin typeface="Microsoft JhengHei"/>
              </a:rPr>
              <a:t>一、簡介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3D5B"/>
                </a:solidFill>
                <a:latin typeface="Microsoft JhengHei"/>
              </a:rPr>
              <a:t>4. 個人專題負責項目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87684"/>
                </a:solidFill>
                <a:latin typeface="Microsoft JhengHe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63040"/>
            <a:ext cx="1033272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182880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C3D5B"/>
                </a:solidFill>
                <a:latin typeface="Microsoft JhengHei"/>
              </a:rPr>
              <a:t>施志雄｜個人專題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43200"/>
            <a:ext cx="95097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2D3945"/>
                </a:solidFill>
                <a:latin typeface="Microsoft JhengHei"/>
              </a:rPr>
              <a:t>需求規劃　｜　資料庫設計　｜　Flask 後端　｜　HTML/CSS 前端
新增／查詢功能　｜　Dashboard 統計　｜　柏拉圖分析
Git / GitHub 版本管理　｜　測試與除錯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CB"/>
                </a:solidFill>
                <a:latin typeface="Microsoft JhengHei"/>
              </a:rPr>
              <a:t>二、設計流程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3D5B"/>
                </a:solidFill>
                <a:latin typeface="Microsoft JhengHei"/>
              </a:rPr>
              <a:t>1. 專題流程圖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87684"/>
                </a:solidFill>
                <a:latin typeface="Microsoft JhengHe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2423160"/>
            <a:ext cx="1508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F6F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271576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6FCB"/>
                </a:solidFill>
                <a:latin typeface="Microsoft JhengHei"/>
              </a:rPr>
              <a:t>使用者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9384" y="2706624"/>
            <a:ext cx="39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87684"/>
                </a:solidFill>
                <a:latin typeface="Microsoft JhengHe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31720" y="2423160"/>
            <a:ext cx="1508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1F6F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423160" y="271576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6FCB"/>
                </a:solidFill>
                <a:latin typeface="Microsoft JhengHei"/>
              </a:rPr>
              <a:t>首頁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9624" y="2706624"/>
            <a:ext cx="39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87684"/>
                </a:solidFill>
                <a:latin typeface="Microsoft Jheng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423160"/>
            <a:ext cx="1508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43400" y="271576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7D32"/>
                </a:solidFill>
                <a:latin typeface="Microsoft JhengHei"/>
              </a:rPr>
              <a:t>新增／查詢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9864" y="2706624"/>
            <a:ext cx="39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87684"/>
                </a:solidFill>
                <a:latin typeface="Microsoft JhengHe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423160"/>
            <a:ext cx="1508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271576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7D32"/>
                </a:solidFill>
                <a:latin typeface="Microsoft JhengHei"/>
              </a:rPr>
              <a:t>Flask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2706624"/>
            <a:ext cx="39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87684"/>
                </a:solidFill>
                <a:latin typeface="Microsoft Jheng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2423160"/>
            <a:ext cx="1508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6A38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83879" y="271576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A38A3"/>
                </a:solidFill>
                <a:latin typeface="Microsoft JhengHei"/>
              </a:rPr>
              <a:t>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10344" y="2706624"/>
            <a:ext cx="3931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87684"/>
                </a:solidFill>
                <a:latin typeface="Microsoft JhengHe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012680" y="2423160"/>
            <a:ext cx="15087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F8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104119" y="2715768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F842A"/>
                </a:solidFill>
                <a:latin typeface="Microsoft JhengHei"/>
              </a:rPr>
              <a:t>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16052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C3D5B"/>
                </a:solidFill>
                <a:latin typeface="Microsoft JhengHei"/>
              </a:rPr>
              <a:t>資料輸入與查詢由 Flask 處理；統計頁再從 MySQL 取得資料並產生圖表。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CB"/>
                </a:solidFill>
                <a:latin typeface="Microsoft JhengHei"/>
              </a:rPr>
              <a:t>二、設計流程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3D5B"/>
                </a:solidFill>
                <a:latin typeface="Microsoft JhengHei"/>
              </a:rPr>
              <a:t>2. 資料流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87684"/>
                </a:solidFill>
                <a:latin typeface="Microsoft JhengHei"/>
              </a:rPr>
              <a:t>8</a:t>
            </a:r>
          </a:p>
        </p:txBody>
      </p:sp>
      <p:pic>
        <p:nvPicPr>
          <p:cNvPr id="6" name="Picture 5" descr="dataflow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07008"/>
            <a:ext cx="11109960" cy="39410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539496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80" b="1">
                <a:latin typeface="Microsoft JhengHei"/>
              </a:rPr>
              <a:t>① Browser 送出 GET / POST → ② Flask 後端處理 → ③ SQL 存取 MySQL → ④ Result Set 回傳 → ⑤ Browser 顯示查詢結果 / Dashboard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CB"/>
                </a:solidFill>
                <a:latin typeface="Microsoft JhengHei"/>
              </a:rPr>
              <a:t>二、設計流程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3D5B"/>
                </a:solidFill>
                <a:latin typeface="Microsoft JhengHei"/>
              </a:rPr>
              <a:t>3. 角色設計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87684"/>
                </a:solidFill>
                <a:latin typeface="Microsoft JhengHe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417320"/>
            <a:ext cx="100584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3444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6FCB"/>
                </a:solidFill>
                <a:latin typeface="Microsoft JhengHei"/>
              </a:rPr>
              <a:t>角色名稱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18288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6FCB"/>
                </a:solidFill>
                <a:latin typeface="Microsoft JhengHei"/>
              </a:rPr>
              <a:t>角色類型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74920" y="18288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6FCB"/>
                </a:solidFill>
                <a:latin typeface="Microsoft JhengHei"/>
              </a:rPr>
              <a:t>角色功能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18288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6FCB"/>
                </a:solidFill>
                <a:latin typeface="Microsoft JhengHei"/>
              </a:rPr>
              <a:t>角色權限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2560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C3D5B"/>
                </a:solidFill>
                <a:latin typeface="Microsoft JhengHei"/>
              </a:rP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56032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D3945"/>
                </a:solidFill>
                <a:latin typeface="Microsoft JhengHei"/>
              </a:rPr>
              <a:t>一般使用者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256032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D3945"/>
                </a:solidFill>
                <a:latin typeface="Microsoft JhengHei"/>
              </a:rPr>
              <a:t>新增、查詢、查看統計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560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>
                <a:solidFill>
                  <a:srgbClr val="2D3945"/>
                </a:solidFill>
                <a:latin typeface="Microsoft JhengHei"/>
              </a:rPr>
              <a:t>操作系統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886200"/>
            <a:ext cx="9326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87684"/>
                </a:solidFill>
                <a:latin typeface="Microsoft JhengHei"/>
              </a:rPr>
              <a:t>目前版本為單機個人使用，尚未建置登入與多角色權限；此功能列為後續擴充。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CB"/>
                </a:solidFill>
                <a:latin typeface="Microsoft JhengHei"/>
              </a:rPr>
              <a:t>三、實作成果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3D5B"/>
                </a:solidFill>
                <a:latin typeface="Microsoft JhengHei"/>
              </a:rPr>
              <a:t>1. 專題首頁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87684"/>
                </a:solidFill>
                <a:latin typeface="Microsoft JhengHe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10972800" cy="5166360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886c00f8-399e-40f0-9873-28182c2157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09103"/>
            <a:ext cx="10515600" cy="337131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CB"/>
                </a:solidFill>
                <a:latin typeface="Microsoft JhengHei"/>
              </a:rPr>
              <a:t>三、實作成果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3D5B"/>
                </a:solidFill>
                <a:latin typeface="Microsoft JhengHei"/>
              </a:rPr>
              <a:t>2. 專題畫面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87684"/>
                </a:solidFill>
                <a:latin typeface="Microsoft JhengHe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280160"/>
            <a:ext cx="37033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1F6FCB"/>
                </a:solidFill>
                <a:latin typeface="Microsoft JhengHei"/>
              </a:rPr>
              <a:t>新增</a:t>
            </a:r>
          </a:p>
        </p:txBody>
      </p:sp>
      <p:pic>
        <p:nvPicPr>
          <p:cNvPr id="8" name="Picture 7" descr="a9953fb5-683d-4fd5-9a73-26c0ef8e34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031339"/>
            <a:ext cx="3337560" cy="39383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270248" y="1280160"/>
            <a:ext cx="37033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07408" y="150876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2E7D32"/>
                </a:solidFill>
                <a:latin typeface="Microsoft JhengHei"/>
              </a:rPr>
              <a:t>查詢</a:t>
            </a:r>
          </a:p>
        </p:txBody>
      </p:sp>
      <p:pic>
        <p:nvPicPr>
          <p:cNvPr id="11" name="Picture 10" descr="f7bcc5ce-1800-49c0-9dee-d1b9e5924d6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128" y="2030133"/>
            <a:ext cx="3337560" cy="394073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8220456" y="1280160"/>
            <a:ext cx="3703320" cy="5074920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57616" y="150876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6A38A3"/>
                </a:solidFill>
                <a:latin typeface="Microsoft JhengHei"/>
              </a:rPr>
              <a:t>Dashboard</a:t>
            </a:r>
          </a:p>
        </p:txBody>
      </p:sp>
      <p:pic>
        <p:nvPicPr>
          <p:cNvPr id="14" name="Picture 13" descr="429235cb-dba7-4cb5-b61b-d88983a2035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3336" y="2961355"/>
            <a:ext cx="3337560" cy="207828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CB"/>
                </a:solidFill>
                <a:latin typeface="Microsoft JhengHei"/>
              </a:rPr>
              <a:t>三、實作成果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3D5B"/>
                </a:solidFill>
                <a:latin typeface="Microsoft JhengHei"/>
              </a:rPr>
              <a:t>3. 統計分析成果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87684"/>
                </a:solidFill>
                <a:latin typeface="Microsoft JhengHe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34440"/>
            <a:ext cx="8412480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744918d0-a84a-4577-9a40-d36c3bb10e6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591755"/>
            <a:ext cx="8092440" cy="445172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52560" y="155448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C3D5B"/>
                </a:solidFill>
                <a:latin typeface="Microsoft JhengHei"/>
              </a:rPr>
              <a:t>柏拉圖重點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214884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>
                <a:solidFill>
                  <a:srgbClr val="1F6FCB"/>
                </a:solidFill>
                <a:latin typeface="Microsoft JhengHei"/>
              </a:rPr>
              <a:t>房貸
NT$63,938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3154680"/>
            <a:ext cx="2468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6A38A3"/>
                </a:solidFill>
                <a:latin typeface="Microsoft JhengHei"/>
              </a:rPr>
              <a:t>前三項累積
約 75.5%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416052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EF842A"/>
                </a:solidFill>
                <a:latin typeface="Microsoft JhengHei"/>
              </a:rPr>
              <a:t>加入加油費後
達 80%
找出主要支出項目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CB"/>
                </a:solidFill>
                <a:latin typeface="Microsoft JhengHei"/>
              </a:rPr>
              <a:t>四、建議與感想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solidFill>
                  <a:srgbClr val="1C3D5B"/>
                </a:solidFill>
                <a:latin typeface="Microsoft JhengHei"/>
              </a:rPr>
              <a:t>1. </a:t>
            </a:r>
            <a:r>
              <a:rPr sz="2700" b="1" dirty="0" err="1">
                <a:solidFill>
                  <a:srgbClr val="1C3D5B"/>
                </a:solidFill>
                <a:latin typeface="Microsoft JhengHei"/>
              </a:rPr>
              <a:t>建議</a:t>
            </a:r>
            <a:r>
              <a:rPr lang="en-US" altLang="zh-TW" sz="2700" b="1" dirty="0">
                <a:solidFill>
                  <a:srgbClr val="1C3D5B"/>
                </a:solidFill>
                <a:latin typeface="Microsoft JhengHei"/>
              </a:rPr>
              <a:t>(</a:t>
            </a:r>
            <a:r>
              <a:rPr lang="zh-TW" altLang="en-US" sz="2700" b="1" dirty="0">
                <a:solidFill>
                  <a:srgbClr val="1C3D5B"/>
                </a:solidFill>
                <a:latin typeface="Microsoft JhengHei"/>
              </a:rPr>
              <a:t>未來發展</a:t>
            </a:r>
            <a:r>
              <a:rPr lang="en-US" altLang="zh-TW" sz="2700" b="1" dirty="0">
                <a:solidFill>
                  <a:srgbClr val="1C3D5B"/>
                </a:solidFill>
                <a:latin typeface="Microsoft JhengHei"/>
              </a:rPr>
              <a:t>)</a:t>
            </a:r>
            <a:endParaRPr sz="2700" b="1" dirty="0">
              <a:solidFill>
                <a:srgbClr val="1C3D5B"/>
              </a:solidFill>
              <a:latin typeface="Microsoft Jheng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87684"/>
                </a:solidFill>
                <a:latin typeface="Microsoft JhengHe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120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F6FCB"/>
                </a:solidFill>
                <a:latin typeface="Microsoft JhengHei"/>
              </a:rPr>
              <a:t>修改／刪除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764792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945"/>
                </a:solidFill>
                <a:latin typeface="Microsoft JhengHei"/>
              </a:rPr>
              <a:t>輸入錯誤時可直接修正資料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120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17830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2E7D32"/>
                </a:solidFill>
                <a:latin typeface="Microsoft JhengHei"/>
              </a:rPr>
              <a:t>預算管理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764792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945"/>
                </a:solidFill>
                <a:latin typeface="Microsoft JhengHei"/>
              </a:rPr>
              <a:t>設定每月或分類預算與超支提醒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66160"/>
            <a:ext cx="5120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840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6A38A3"/>
                </a:solidFill>
                <a:latin typeface="Microsoft JhengHei"/>
              </a:rPr>
              <a:t>手機版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22191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945"/>
                </a:solidFill>
                <a:latin typeface="Microsoft JhengHei"/>
              </a:rPr>
              <a:t>改善行動裝置操作體驗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566160"/>
            <a:ext cx="512064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0" y="3840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EF842A"/>
                </a:solidFill>
                <a:latin typeface="Microsoft JhengHei"/>
              </a:rPr>
              <a:t>AI 分析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822191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945"/>
                </a:solidFill>
                <a:latin typeface="Microsoft JhengHei"/>
              </a:rPr>
              <a:t>提供異常支出與節流建議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CB"/>
                </a:solidFill>
                <a:latin typeface="Microsoft JhengHei"/>
              </a:rPr>
              <a:t>四、建議與感想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3D5B"/>
                </a:solidFill>
                <a:latin typeface="Microsoft JhengHei"/>
              </a:rPr>
              <a:t>2. 感想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87684"/>
                </a:solidFill>
                <a:latin typeface="Microsoft JhengHe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10332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280160" y="17830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6FCB"/>
                </a:solidFill>
                <a:latin typeface="Microsoft JhengHei"/>
              </a:rPr>
              <a:t>施志雄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423160"/>
            <a:ext cx="93268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2D3945"/>
                </a:solidFill>
                <a:latin typeface="Microsoft JhengHei"/>
              </a:rPr>
              <a:t>這次專題讓我把 Python、Flask、MySQL、HTML/CSS 與資料視覺化整合成一套可實際操作的系統。
開發過程中曾遇到 MySQL 連線、Git rebase、Dashboard 遺失與網頁版面等問題；透過逐步檢查與除錯，更了解完整軟體開發也包含資料庫、版本管理、測試與問題解決。
最大的收穫，是把單純的記帳資料進一步轉成可判讀的統計資訊。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6F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6FCB"/>
                </a:solidFill>
                <a:latin typeface="Microsoft JhengHei"/>
              </a:rPr>
              <a:t>參考資料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C3D5B"/>
                </a:solidFill>
                <a:latin typeface="Microsoft JhengHei"/>
              </a:rPr>
              <a:t>開發文件與工具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2743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87684"/>
                </a:solidFill>
                <a:latin typeface="Microsoft JhengHe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25880"/>
            <a:ext cx="103327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5EB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945"/>
                </a:solidFill>
                <a:latin typeface="Microsoft JhengHei"/>
              </a:rPr>
              <a:t>• Python Documentation — Python 語言與標準函式庫文件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313432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945"/>
                </a:solidFill>
                <a:latin typeface="Microsoft JhengHei"/>
              </a:rPr>
              <a:t>• Flask Documentation — Web Application 開發文件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935224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945"/>
                </a:solidFill>
                <a:latin typeface="Microsoft JhengHei"/>
              </a:rPr>
              <a:t>• MySQL 8.0 Reference Manual — 資料庫與 SQL 語法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57016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945"/>
                </a:solidFill>
                <a:latin typeface="Microsoft JhengHei"/>
              </a:rPr>
              <a:t>• Chart.js Documentation — 圖表視覺化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178808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945"/>
                </a:solidFill>
                <a:latin typeface="Microsoft JhengHei"/>
              </a:rPr>
              <a:t>• Git Documentation — 版本控制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800600"/>
            <a:ext cx="9418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3945"/>
                </a:solidFill>
                <a:latin typeface="Microsoft JhengHei"/>
              </a:rPr>
              <a:t>• GitHub — 專題程式版本保存與管理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643</TotalTime>
  <Words>580</Words>
  <Application>Microsoft Office PowerPoint</Application>
  <PresentationFormat>寬螢幕</PresentationFormat>
  <Paragraphs>151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志雄 施</cp:lastModifiedBy>
  <cp:revision>2</cp:revision>
  <dcterms:created xsi:type="dcterms:W3CDTF">2013-01-27T09:14:16Z</dcterms:created>
  <dcterms:modified xsi:type="dcterms:W3CDTF">2026-09-17T08:09:13Z</dcterms:modified>
  <cp:category/>
</cp:coreProperties>
</file>